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7F0"/>
    <a:srgbClr val="EDE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883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1417320"/>
            <a:ext cx="107899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82D4E"/>
                </a:solidFill>
                <a:latin typeface="Aptos Display"/>
              </a:defRPr>
            </a:pPr>
            <a:r>
              <a:rPr sz="4000" dirty="0"/>
              <a:t>Airbnb Data Engineering </a:t>
            </a:r>
            <a:r>
              <a:rPr lang="en-US" sz="4000" dirty="0"/>
              <a:t>Assignment</a:t>
            </a:r>
            <a:endParaRPr sz="4000"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2207398"/>
            <a:ext cx="9601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E6E6E"/>
                </a:solidFill>
                <a:latin typeface="Aptos"/>
              </a:defRPr>
            </a:pPr>
            <a:r>
              <a:rPr dirty="0"/>
              <a:t>Data Engineer Intern Assignment |  A.B.T. Perera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657600"/>
            <a:ext cx="228600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E6E6E"/>
                </a:solidFill>
                <a:latin typeface="Aptos"/>
              </a:defRPr>
            </a:pPr>
            <a:r>
              <a:t>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9651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DA096"/>
                </a:solidFill>
                <a:latin typeface="Aptos Display"/>
              </a:defRPr>
            </a:pPr>
            <a:r>
              <a:rPr dirty="0"/>
              <a:t>Amsterdam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99432"/>
            <a:ext cx="201168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E6E6E"/>
                </a:solidFill>
                <a:latin typeface="Aptos"/>
              </a:defRPr>
            </a:pPr>
            <a:r>
              <a:t>Single-city scope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3657600"/>
            <a:ext cx="228600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79" y="37947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E6E6E"/>
                </a:solidFill>
                <a:latin typeface="Aptos"/>
              </a:defRPr>
            </a:pPr>
            <a:r>
              <a:t>LISTINGS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79" y="409651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D6FBF"/>
                </a:solidFill>
                <a:latin typeface="Aptos Display"/>
              </a:defRPr>
            </a:pPr>
            <a:r>
              <a:t>10,480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79" y="4599432"/>
            <a:ext cx="201168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E6E6E"/>
                </a:solidFill>
                <a:latin typeface="Aptos"/>
              </a:defRPr>
            </a:pPr>
            <a:r>
              <a:t>Raw listing 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3657600"/>
            <a:ext cx="228600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0" y="37947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E6E6E"/>
                </a:solidFill>
                <a:latin typeface="Aptos"/>
              </a:defRPr>
            </a:pPr>
            <a:r>
              <a:t>VALID PRICES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409651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D6FBF"/>
                </a:solidFill>
                <a:latin typeface="Aptos Display"/>
              </a:defRPr>
            </a:pPr>
            <a:r>
              <a:t>5,874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599432"/>
            <a:ext cx="201168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E6E6E"/>
                </a:solidFill>
                <a:latin typeface="Aptos"/>
              </a:defRPr>
            </a:pPr>
            <a:r>
              <a:t>For price analysis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3657600"/>
            <a:ext cx="228600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0" y="37947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E6E6E"/>
                </a:solidFill>
                <a:latin typeface="Aptos"/>
              </a:defRPr>
            </a:pPr>
            <a: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09651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DA096"/>
                </a:solidFill>
                <a:latin typeface="Aptos Display"/>
              </a:defRPr>
            </a:pPr>
            <a:r>
              <a:t>Python + 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599432"/>
            <a:ext cx="201168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E6E6E"/>
                </a:solidFill>
                <a:latin typeface="Aptos"/>
              </a:defRPr>
            </a:pPr>
            <a:r>
              <a:t>PostgreSQL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510528"/>
            <a:ext cx="4572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>
                <a:solidFill>
                  <a:srgbClr val="6E6E6E"/>
                </a:solidFill>
              </a:defRPr>
            </a:pPr>
            <a:r>
              <a:t>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920158-DC6C-6BF9-A509-367A5D0E33D4}"/>
              </a:ext>
            </a:extLst>
          </p:cNvPr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02920" y="650417"/>
            <a:ext cx="3959482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E"/>
                </a:solidFill>
                <a:latin typeface="Aptos Display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 &amp;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577840" cy="331930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282828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repeatable ETL workflow from raw Inside Airbnb files to analysis-ready outputs.</a:t>
            </a: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282828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Profile, clean, standardize, enrich, and model Amsterdam Airbnb data in PostgreSQL.</a:t>
            </a: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282828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 EDA, statistical findings, a baseline price prediction experiment, and business recommendations.</a:t>
            </a: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282828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intentionally excludes cloud deployment, Docker,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dbt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dashboarding, and advanced AI/LLM 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1417320"/>
            <a:ext cx="201168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66560" y="1554480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6E6E6E"/>
                </a:solidFill>
                <a:latin typeface="Aptos"/>
              </a:defRPr>
            </a:pPr>
            <a:r>
              <a:t>RAW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85623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6FBF"/>
                </a:solidFill>
                <a:latin typeface="Aptos Display"/>
              </a:defRPr>
            </a:pPr>
            <a:r>
              <a:rPr dirty="0"/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159321"/>
            <a:ext cx="1452642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E6E6E"/>
                </a:solidFill>
                <a:latin typeface="Aptos"/>
              </a:defRPr>
            </a:pPr>
            <a:r>
              <a:rPr dirty="0"/>
              <a:t>listings, calendar, reviews, </a:t>
            </a:r>
            <a:endParaRPr lang="en-US" dirty="0"/>
          </a:p>
          <a:p>
            <a:pPr>
              <a:defRPr sz="850">
                <a:solidFill>
                  <a:srgbClr val="6E6E6E"/>
                </a:solidFill>
                <a:latin typeface="Aptos"/>
              </a:defRPr>
            </a:pPr>
            <a:r>
              <a:rPr dirty="0" err="1"/>
              <a:t>neighbourhoods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8915400" y="1417320"/>
            <a:ext cx="201168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52560" y="1554480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6E6E6E"/>
                </a:solidFill>
                <a:latin typeface="Aptos"/>
              </a:defRPr>
            </a:pPr>
            <a:r>
              <a:t>CALENDAR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5623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6FBF"/>
                </a:solidFill>
                <a:latin typeface="Aptos Display"/>
              </a:defRPr>
            </a:pPr>
            <a:r>
              <a:t>3.8M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359152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E6E6E"/>
                </a:solidFill>
                <a:latin typeface="Aptos"/>
              </a:defRPr>
            </a:pPr>
            <a:r>
              <a:t>Daily availability records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2926080"/>
            <a:ext cx="201168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66560" y="3063240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6E6E6E"/>
                </a:solidFill>
                <a:latin typeface="Aptos"/>
              </a:defRPr>
            </a:pPr>
            <a:r>
              <a:t>REVIEWS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36499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6FBF"/>
                </a:solidFill>
                <a:latin typeface="Aptos Display"/>
              </a:defRPr>
            </a:pPr>
            <a:r>
              <a:t>501K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867912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E6E6E"/>
                </a:solidFill>
                <a:latin typeface="Aptos"/>
              </a:defRPr>
            </a:pPr>
            <a:r>
              <a:t>Guest review records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2926080"/>
            <a:ext cx="201168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52560" y="3063240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6E6E6E"/>
                </a:solidFill>
                <a:latin typeface="Aptos"/>
              </a:defRPr>
            </a:pPr>
            <a:r>
              <a:t>NEIGHBOURHOODS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36499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6FBF"/>
                </a:solidFill>
                <a:latin typeface="Aptos Display"/>
              </a:defRPr>
            </a:pPr>
            <a:r>
              <a:t>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3867912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E6E6E"/>
                </a:solidFill>
                <a:latin typeface="Aptos"/>
              </a:defRPr>
            </a:pPr>
            <a:r>
              <a:t>Amsterdam areas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6E6E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678621"/>
            <a:ext cx="2618024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E"/>
                </a:solidFill>
                <a:latin typeface="Aptos Display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032798"/>
              </p:ext>
            </p:extLst>
          </p:nvPr>
        </p:nvGraphicFramePr>
        <p:xfrm>
          <a:off x="619385" y="1478661"/>
          <a:ext cx="7471067" cy="214912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9652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1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41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823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 dirty="0">
                          <a:solidFill>
                            <a:schemeClr val="tx1"/>
                          </a:solidFill>
                        </a:rPr>
                        <a:t>File</a:t>
                      </a:r>
                      <a:endParaRPr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Rows</a:t>
                      </a:r>
                      <a:endParaRPr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 dirty="0">
                          <a:solidFill>
                            <a:schemeClr val="tx1"/>
                          </a:solidFill>
                        </a:rPr>
                        <a:t>Purpose</a:t>
                      </a:r>
                      <a:endParaRPr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823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</a:defRPr>
                      </a:pPr>
                      <a:r>
                        <a:rPr sz="1600" dirty="0"/>
                        <a:t>listings.csv.gz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</a:defRPr>
                      </a:pPr>
                      <a:r>
                        <a:rPr sz="1600" dirty="0"/>
                        <a:t>10,480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</a:defRPr>
                      </a:pPr>
                      <a:r>
                        <a:rPr sz="1600"/>
                        <a:t>Listing, host, price and review score fields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823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</a:defRPr>
                      </a:pPr>
                      <a:r>
                        <a:rPr sz="1600" dirty="0"/>
                        <a:t>calendar.csv.gz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</a:defRPr>
                      </a:pPr>
                      <a:r>
                        <a:rPr sz="1600" dirty="0"/>
                        <a:t>3,825,200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</a:defRPr>
                      </a:pPr>
                      <a:r>
                        <a:rPr sz="1600" dirty="0"/>
                        <a:t>Daily listing availability records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823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</a:defRPr>
                      </a:pPr>
                      <a:r>
                        <a:rPr sz="1600" dirty="0"/>
                        <a:t>reviews.csv.gz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</a:defRPr>
                      </a:pPr>
                      <a:r>
                        <a:rPr sz="1600" dirty="0"/>
                        <a:t>501,084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</a:defRPr>
                      </a:pPr>
                      <a:r>
                        <a:rPr sz="1600" dirty="0"/>
                        <a:t>Guest review records linked to listings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82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</a:defRPr>
                      </a:pPr>
                      <a:r>
                        <a:rPr sz="1600"/>
                        <a:t>neighbourhoods.csv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</a:defRPr>
                      </a:pPr>
                      <a:r>
                        <a:rPr sz="1600" dirty="0"/>
                        <a:t>22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</a:defRPr>
                      </a:pPr>
                      <a:r>
                        <a:rPr sz="1600" dirty="0" err="1"/>
                        <a:t>Neighbourhood</a:t>
                      </a:r>
                      <a:r>
                        <a:rPr sz="1600" dirty="0"/>
                        <a:t> reference data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9385" y="3943533"/>
            <a:ext cx="10515600" cy="10904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282828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join key: listings.id -&gt;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calendar.listing_id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reviews.listing_id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282828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limitation: calendar price and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adjusted_price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fields were missing.</a:t>
            </a:r>
          </a:p>
          <a:p>
            <a:pPr marL="285750" indent="-285750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282828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Calendar unavailable dates were treated as occupancy estimates, not confirmed bookings.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6E6E"/>
                </a:solidFill>
              </a:defRPr>
            </a:pPr>
            <a:r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F64C55-EC9A-67D7-3735-BDC1BA8CB4E8}"/>
              </a:ext>
            </a:extLst>
          </p:cNvPr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884619"/>
            <a:ext cx="2999475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E"/>
                </a:solidFill>
                <a:latin typeface="Aptos Display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ETL Pipeline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58382"/>
            <a:ext cx="2514600" cy="457200"/>
          </a:xfrm>
          <a:prstGeom prst="roundRect">
            <a:avLst/>
          </a:prstGeom>
          <a:solidFill>
            <a:srgbClr val="F2F6FA"/>
          </a:solidFill>
          <a:ln>
            <a:solidFill>
              <a:srgbClr val="2D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82D4E"/>
                </a:solidFill>
              </a:defRPr>
            </a:pPr>
            <a:r>
              <a:rPr dirty="0"/>
              <a:t>1. Raw CSV files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00400" y="2077254"/>
            <a:ext cx="228600" cy="210312"/>
          </a:xfrm>
          <a:prstGeom prst="rightArrow">
            <a:avLst/>
          </a:prstGeom>
          <a:solidFill>
            <a:srgbClr val="1D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383280" y="1958382"/>
            <a:ext cx="2514600" cy="457200"/>
          </a:xfrm>
          <a:prstGeom prst="roundRect">
            <a:avLst/>
          </a:prstGeom>
          <a:solidFill>
            <a:srgbClr val="F2F6FA"/>
          </a:solidFill>
          <a:ln>
            <a:solidFill>
              <a:srgbClr val="2D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82D4E"/>
                </a:solidFill>
              </a:defRPr>
            </a:pPr>
            <a:r>
              <a:t>2. File checks &amp; profiling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89320" y="2077254"/>
            <a:ext cx="228600" cy="210312"/>
          </a:xfrm>
          <a:prstGeom prst="rightArrow">
            <a:avLst/>
          </a:prstGeom>
          <a:solidFill>
            <a:srgbClr val="1D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72199" y="1958382"/>
            <a:ext cx="2514600" cy="457200"/>
          </a:xfrm>
          <a:prstGeom prst="roundRect">
            <a:avLst/>
          </a:prstGeom>
          <a:solidFill>
            <a:srgbClr val="F2F6FA"/>
          </a:solidFill>
          <a:ln>
            <a:solidFill>
              <a:srgbClr val="2D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82D4E"/>
                </a:solidFill>
              </a:defRPr>
            </a:pPr>
            <a:r>
              <a:t>3. Extract useful columns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78239" y="2077254"/>
            <a:ext cx="228600" cy="210312"/>
          </a:xfrm>
          <a:prstGeom prst="rightArrow">
            <a:avLst/>
          </a:prstGeom>
          <a:solidFill>
            <a:srgbClr val="1D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961119" y="1958382"/>
            <a:ext cx="2514600" cy="457200"/>
          </a:xfrm>
          <a:prstGeom prst="roundRect">
            <a:avLst/>
          </a:prstGeom>
          <a:solidFill>
            <a:srgbClr val="F2F6FA"/>
          </a:solidFill>
          <a:ln>
            <a:solidFill>
              <a:srgbClr val="2D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82D4E"/>
                </a:solidFill>
              </a:defRPr>
            </a:pPr>
            <a:r>
              <a:t>4. Quality checks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971800"/>
            <a:ext cx="2514600" cy="457200"/>
          </a:xfrm>
          <a:prstGeom prst="roundRect">
            <a:avLst/>
          </a:prstGeom>
          <a:solidFill>
            <a:srgbClr val="F2F6FA"/>
          </a:solidFill>
          <a:ln>
            <a:solidFill>
              <a:srgbClr val="2D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82D4E"/>
                </a:solidFill>
              </a:defRPr>
            </a:pPr>
            <a:r>
              <a:t>5. Cleaning &amp; standardization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00400" y="3090672"/>
            <a:ext cx="228600" cy="210312"/>
          </a:xfrm>
          <a:prstGeom prst="rightArrow">
            <a:avLst/>
          </a:prstGeom>
          <a:solidFill>
            <a:srgbClr val="1D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383280" y="2971800"/>
            <a:ext cx="2514600" cy="457200"/>
          </a:xfrm>
          <a:prstGeom prst="roundRect">
            <a:avLst/>
          </a:prstGeom>
          <a:solidFill>
            <a:srgbClr val="F2F6FA"/>
          </a:solidFill>
          <a:ln>
            <a:solidFill>
              <a:srgbClr val="2D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82D4E"/>
                </a:solidFill>
              </a:defRPr>
            </a:pPr>
            <a:r>
              <a:rPr dirty="0"/>
              <a:t>6. Enrichment &amp; joining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89320" y="3090672"/>
            <a:ext cx="228600" cy="210312"/>
          </a:xfrm>
          <a:prstGeom prst="rightArrow">
            <a:avLst/>
          </a:prstGeom>
          <a:solidFill>
            <a:srgbClr val="1D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172199" y="2971800"/>
            <a:ext cx="2514600" cy="457200"/>
          </a:xfrm>
          <a:prstGeom prst="roundRect">
            <a:avLst/>
          </a:prstGeom>
          <a:solidFill>
            <a:srgbClr val="F2F6FA"/>
          </a:solidFill>
          <a:ln>
            <a:solidFill>
              <a:srgbClr val="2D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82D4E"/>
                </a:solidFill>
              </a:defRPr>
            </a:pPr>
            <a:r>
              <a:t>7. PostgreSQL model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78239" y="3090672"/>
            <a:ext cx="228600" cy="210312"/>
          </a:xfrm>
          <a:prstGeom prst="rightArrow">
            <a:avLst/>
          </a:prstGeom>
          <a:solidFill>
            <a:srgbClr val="1D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961119" y="2971800"/>
            <a:ext cx="2514600" cy="457200"/>
          </a:xfrm>
          <a:prstGeom prst="roundRect">
            <a:avLst/>
          </a:prstGeom>
          <a:solidFill>
            <a:srgbClr val="F2F6FA"/>
          </a:solidFill>
          <a:ln>
            <a:solidFill>
              <a:srgbClr val="2D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82D4E"/>
                </a:solidFill>
              </a:defRPr>
            </a:pPr>
            <a:r>
              <a:t>8. EDA, stats, ML, innovation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976074"/>
            <a:ext cx="10515600" cy="68435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500">
                <a:solidFill>
                  <a:srgbClr val="282828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run_pipeline.py automates the main ETL steps and writes reports/pipeline_run_log.csv.</a:t>
            </a:r>
          </a:p>
          <a:p>
            <a:pPr marL="285750" indent="-285750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500">
                <a:solidFill>
                  <a:srgbClr val="282828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 are stored in reports/, figures/, exports/, and PostgreSQL analytics tables.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6E6E"/>
                </a:solidFill>
              </a:defRPr>
            </a:pPr>
            <a: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755E4E7-A876-8ED5-8C02-063BF79FA4DD}"/>
              </a:ext>
            </a:extLst>
          </p:cNvPr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74011"/>
            <a:ext cx="5254965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E"/>
                </a:solidFill>
                <a:latin typeface="Aptos Display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Cleaning, Enrichment &amp; Data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3066" y="1369116"/>
            <a:ext cx="10509637" cy="274068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 algn="just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500">
                <a:solidFill>
                  <a:srgbClr val="282828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price values by removing currency symbols and commas, then cast to numeric.</a:t>
            </a:r>
          </a:p>
          <a:p>
            <a:pPr marL="285750" indent="-285750" algn="just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500">
                <a:solidFill>
                  <a:srgbClr val="282828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Parsed date fields and standardized text/category fields such as room type and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neighbourhood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500">
                <a:solidFill>
                  <a:srgbClr val="282828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validation flags for missing/invalid values instead of deleting records too early.</a:t>
            </a:r>
          </a:p>
          <a:p>
            <a:pPr marL="285750" indent="-285750" algn="just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500">
                <a:solidFill>
                  <a:srgbClr val="282828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Joined listings with calendar summaries and review summaries to create listing_master.csv.</a:t>
            </a:r>
          </a:p>
          <a:p>
            <a:pPr marL="285750" indent="-285750" algn="just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500">
                <a:solidFill>
                  <a:srgbClr val="282828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Loaded a PostgreSQL model with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dim_host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dim_listing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dim_neighbourhood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fact_listing_performance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6E6E"/>
                </a:solidFill>
              </a:defRPr>
            </a:pPr>
            <a:r>
              <a:t>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4A8C93-FD03-8F24-3AB8-23BB31F6A2A4}"/>
              </a:ext>
            </a:extLst>
          </p:cNvPr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93191"/>
            <a:ext cx="5259004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E"/>
                </a:solidFill>
                <a:latin typeface="Aptos Display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Findings: Prices &amp; Room Types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47187" y="1001304"/>
            <a:ext cx="201168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84347" y="1138463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6E6E6E"/>
                </a:solidFill>
                <a:latin typeface="Aptos"/>
              </a:defRPr>
            </a:pPr>
            <a:r>
              <a:t>MEDIAN PRICE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4347" y="1440216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6FBF"/>
                </a:solidFill>
                <a:latin typeface="Aptos Display"/>
              </a:defRPr>
            </a:pPr>
            <a:r>
              <a:t>222.00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4347" y="2060865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E6E6E"/>
                </a:solidFill>
                <a:latin typeface="Aptos"/>
              </a:defRPr>
            </a:pPr>
            <a:r>
              <a:rPr dirty="0"/>
              <a:t>Typical listing price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1747" y="1001304"/>
            <a:ext cx="201168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78906" y="1138463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6E6E6E"/>
                </a:solidFill>
                <a:latin typeface="Aptos"/>
              </a:defRPr>
            </a:pPr>
            <a:r>
              <a:t>AVG PRICE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78906" y="1440216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6FBF"/>
                </a:solidFill>
                <a:latin typeface="Aptos Display"/>
              </a:defRPr>
            </a:pPr>
            <a:r>
              <a:t>336.79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78906" y="20615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E6E6E"/>
                </a:solidFill>
                <a:latin typeface="Aptos"/>
              </a:defRPr>
            </a:pPr>
            <a:r>
              <a:t>Affected by high values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36307" y="1001304"/>
            <a:ext cx="201168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3467" y="1138463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6E6E6E"/>
                </a:solidFill>
                <a:latin typeface="Aptos"/>
              </a:defRPr>
            </a:pPr>
            <a:r>
              <a:t>EDA OUTLIERS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3467" y="1440216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6FBF"/>
                </a:solidFill>
                <a:latin typeface="Aptos Display"/>
              </a:defRPr>
            </a:pPr>
            <a:r>
              <a:t>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7" y="2052068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E6E6E"/>
                </a:solidFill>
                <a:latin typeface="Aptos"/>
              </a:defRPr>
            </a:pPr>
            <a:r>
              <a:t>Above 99th percentile</a:t>
            </a:r>
          </a:p>
        </p:txBody>
      </p:sp>
      <p:pic>
        <p:nvPicPr>
          <p:cNvPr id="17" name="Picture 16" descr="pric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073" y="2623185"/>
            <a:ext cx="5120640" cy="32004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8" name="Picture 17" descr="price_by_room_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7" y="2623185"/>
            <a:ext cx="5166360" cy="322897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1129284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6E6E"/>
                </a:solidFill>
              </a:defRPr>
            </a:pPr>
            <a:r>
              <a:t>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2C8A75-99B7-F1C6-0D7D-9B3B0691C892}"/>
              </a:ext>
            </a:extLst>
          </p:cNvPr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474705"/>
            <a:ext cx="6436506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E"/>
                </a:solidFill>
                <a:latin typeface="Aptos Display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Findings: Location, Availability &amp; Hosts</a:t>
            </a:r>
          </a:p>
        </p:txBody>
      </p:sp>
      <p:pic>
        <p:nvPicPr>
          <p:cNvPr id="5" name="Picture 4" descr="top_neighbourhoods_by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5303520" cy="265176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Picture 5" descr="monthly_availa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34440"/>
            <a:ext cx="5303520" cy="265176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94360" y="4393741"/>
            <a:ext cx="10607040" cy="94173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282828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Neighbourhoods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different median price levels, so location is a key pricing factor.</a:t>
            </a:r>
          </a:p>
          <a:p>
            <a:pPr marL="285750" indent="-285750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282828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 supports estimated occupancy, but unavailable dates are not confirmed bookings.</a:t>
            </a:r>
          </a:p>
          <a:p>
            <a:pPr marL="285750" indent="-285750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282828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market includes both individual hosts and hosts managing multiple listings.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6E6E"/>
                </a:solidFill>
              </a:defRPr>
            </a:pPr>
            <a:r>
              <a:t>7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1E07FC-54E8-2D39-2AF1-10318DBAC1C0}"/>
              </a:ext>
            </a:extLst>
          </p:cNvPr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739604"/>
            <a:ext cx="526362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E"/>
                </a:solidFill>
                <a:latin typeface="Aptos Display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&amp; Price Prediction Results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561750"/>
              </p:ext>
            </p:extLst>
          </p:nvPr>
        </p:nvGraphicFramePr>
        <p:xfrm>
          <a:off x="502920" y="1408243"/>
          <a:ext cx="6492240" cy="24932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64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4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4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Business 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282828"/>
                          </a:solidFill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Entire home vs private 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282828"/>
                          </a:solidFill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Significant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282828"/>
                          </a:solidFill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Room type affects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282828"/>
                          </a:solidFill>
                        </a:defRPr>
                      </a:pPr>
                      <a:r>
                        <a:rPr sz="1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Superhost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vs non-</a:t>
                      </a:r>
                      <a:r>
                        <a:rPr sz="1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superhost</a:t>
                      </a:r>
                      <a:endParaRPr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282828"/>
                          </a:solidFill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Significant, small practical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282828"/>
                          </a:solidFill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Superhost label alone is not enough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282828"/>
                          </a:solidFill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&gt;10 reviews vs &lt;=10 reviews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282828"/>
                          </a:solidFill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Significant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282828"/>
                          </a:solidFill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Reviews are a demand proxy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282828"/>
                          </a:solidFill>
                        </a:defRPr>
                      </a:pPr>
                      <a:r>
                        <a:rPr sz="1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Neighbourhood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price differences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282828"/>
                          </a:solidFill>
                        </a:defRPr>
                      </a:pPr>
                      <a:r>
                        <a:rPr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Significant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282828"/>
                          </a:solidFill>
                        </a:defRPr>
                      </a:pPr>
                      <a:r>
                        <a:rPr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 affects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145095"/>
              </p:ext>
            </p:extLst>
          </p:nvPr>
        </p:nvGraphicFramePr>
        <p:xfrm>
          <a:off x="502920" y="4967510"/>
          <a:ext cx="4114800" cy="1234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sz="1100">
                          <a:solidFill>
                            <a:schemeClr val="tx1"/>
                          </a:solidFill>
                        </a:rPr>
                        <a:t>Model</a:t>
                      </a:r>
                      <a:endParaRPr sz="11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sz="1100" dirty="0">
                          <a:solidFill>
                            <a:schemeClr val="tx1"/>
                          </a:solidFill>
                        </a:rPr>
                        <a:t>Test MAE</a:t>
                      </a:r>
                      <a:endParaRPr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sz="1100">
                          <a:solidFill>
                            <a:schemeClr val="tx1"/>
                          </a:solidFill>
                        </a:rPr>
                        <a:t>R2</a:t>
                      </a:r>
                      <a:endParaRPr sz="11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rPr sz="1100">
                          <a:solidFill>
                            <a:schemeClr val="tx1"/>
                          </a:solidFill>
                        </a:rPr>
                        <a:t>Linear Regression</a:t>
                      </a:r>
                      <a:endParaRPr sz="11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rPr sz="1100">
                          <a:solidFill>
                            <a:schemeClr val="tx1"/>
                          </a:solidFill>
                        </a:rPr>
                        <a:t>67.77</a:t>
                      </a:r>
                      <a:endParaRPr sz="11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rPr sz="1100">
                          <a:solidFill>
                            <a:schemeClr val="tx1"/>
                          </a:solidFill>
                        </a:rPr>
                        <a:t>0.5179</a:t>
                      </a:r>
                      <a:endParaRPr sz="11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rPr sz="1100" dirty="0">
                          <a:solidFill>
                            <a:schemeClr val="tx1"/>
                          </a:solidFill>
                        </a:rPr>
                        <a:t>Random Forest</a:t>
                      </a:r>
                      <a:endParaRPr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rPr sz="1100">
                          <a:solidFill>
                            <a:schemeClr val="tx1"/>
                          </a:solidFill>
                        </a:rPr>
                        <a:t>66.79</a:t>
                      </a:r>
                      <a:endParaRPr sz="11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rPr sz="1100" dirty="0">
                          <a:solidFill>
                            <a:schemeClr val="tx1"/>
                          </a:solidFill>
                        </a:rPr>
                        <a:t>0.5237</a:t>
                      </a:r>
                      <a:endParaRPr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Picture 6" descr="price_prediction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404202"/>
            <a:ext cx="4480560" cy="268833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2920" y="4166616"/>
            <a:ext cx="5943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1400">
                <a:solidFill>
                  <a:srgbClr val="282828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performed slightly better, but the model remains exploratory, not production-ready.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6E6E"/>
                </a:solidFill>
              </a:defRPr>
            </a:pPr>
            <a:r>
              <a:t>8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CB0B18-BDCA-308D-0E03-B5D1237941D3}"/>
              </a:ext>
            </a:extLst>
          </p:cNvPr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2067" y="754108"/>
            <a:ext cx="6726521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E"/>
                </a:solidFill>
                <a:latin typeface="Aptos Display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Innovation &amp; Business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9207" y="1599175"/>
            <a:ext cx="6492240" cy="251562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 algn="just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500">
                <a:solidFill>
                  <a:srgbClr val="282828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Opportunity Finder identifies value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neighbourhoods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premium areas, high-occupancy areas, improvement opportunities, and top estimated revenue listings.</a:t>
            </a:r>
          </a:p>
          <a:p>
            <a:pPr marL="285750" indent="-285750" algn="just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500">
                <a:solidFill>
                  <a:srgbClr val="282828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median price by room type and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neighbourhood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the main benchmark.</a:t>
            </a:r>
          </a:p>
          <a:p>
            <a:pPr marL="285750" indent="-285750" algn="just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500">
                <a:solidFill>
                  <a:srgbClr val="282828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 occupancy and revenue as estimates because calendar availability does not confirm bookings.</a:t>
            </a:r>
          </a:p>
          <a:p>
            <a:pPr marL="285750" indent="-285750" algn="just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500">
                <a:solidFill>
                  <a:srgbClr val="282828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price prediction as a support tool, not as an automatic pricing system.</a:t>
            </a:r>
          </a:p>
          <a:p>
            <a:pPr marL="285750" indent="-285750" algn="just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500">
                <a:solidFill>
                  <a:srgbClr val="282828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listings with many reviews but lower ratings.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280160"/>
            <a:ext cx="297180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0" y="1417319"/>
            <a:ext cx="2697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6E6E6E"/>
                </a:solidFill>
                <a:latin typeface="Aptos"/>
              </a:defRPr>
            </a:pPr>
            <a:r>
              <a:t>VALUE AREAS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0" y="1719072"/>
            <a:ext cx="2697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DA096"/>
                </a:solidFill>
                <a:latin typeface="Aptos Display"/>
              </a:defRPr>
            </a:pPr>
            <a: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0" y="2221991"/>
            <a:ext cx="2697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E6E6E"/>
                </a:solidFill>
                <a:latin typeface="Aptos"/>
              </a:defRPr>
            </a:pPr>
            <a:r>
              <a:t>Exported neighbourhood 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2514600"/>
            <a:ext cx="297180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0" y="2651760"/>
            <a:ext cx="2697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6E6E6E"/>
                </a:solidFill>
                <a:latin typeface="Aptos"/>
              </a:defRPr>
            </a:pPr>
            <a:r>
              <a:t>PREMIUM AREAS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0" y="2953512"/>
            <a:ext cx="2697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6FBF"/>
                </a:solidFill>
                <a:latin typeface="Aptos Display"/>
              </a:defRPr>
            </a:pPr>
            <a: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0" y="3456432"/>
            <a:ext cx="2697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E6E6E"/>
                </a:solidFill>
                <a:latin typeface="Aptos"/>
              </a:defRPr>
            </a:pPr>
            <a:r>
              <a:t>Highest price areas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3749039"/>
            <a:ext cx="297180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80" y="3886200"/>
            <a:ext cx="2697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6E6E6E"/>
                </a:solidFill>
                <a:latin typeface="Aptos"/>
              </a:defRPr>
            </a:pPr>
            <a:r>
              <a:t>HIGH OCCUPANCY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4187952"/>
            <a:ext cx="2697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DA096"/>
                </a:solidFill>
                <a:latin typeface="Aptos Display"/>
              </a:defRPr>
            </a:pPr>
            <a: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4690872"/>
            <a:ext cx="2697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E6E6E"/>
                </a:solidFill>
                <a:latin typeface="Aptos"/>
              </a:defRPr>
            </a:pPr>
            <a:r>
              <a:t>Estimated occupancy 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6E6E"/>
                </a:solidFill>
              </a:defRPr>
            </a:pPr>
            <a:r>
              <a:t>9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997B599-76D8-D5C4-D366-D9526E491B93}"/>
              </a:ext>
            </a:extLst>
          </p:cNvPr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866422"/>
            <a:ext cx="5727465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E"/>
                </a:solidFill>
                <a:latin typeface="Aptos Display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Limitations, Future Work &amp;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50583"/>
            <a:ext cx="10424160" cy="163211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282828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 Amsterdam only, missing calendar prices, occupancy is estimated, and review count is only a demand proxy.</a:t>
            </a:r>
          </a:p>
          <a:p>
            <a:pPr marL="285750" indent="-285750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282828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work: multi-city pipeline, confirmed booking data, daily pricing analysis, stronger model features, dashboard, and automated testing.</a:t>
            </a:r>
          </a:p>
          <a:p>
            <a:pPr marL="285750" indent="-285750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282828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Submission includes source code, README, SQL, notebooks, reports, figures, exports, assumptions and decision logs, and AI usage disclosure.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6E6E"/>
                </a:solidFill>
              </a:defRPr>
            </a:pPr>
            <a:r>
              <a:t>10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21731C2-F085-523D-51EB-05CFB5A87FDC}"/>
              </a:ext>
            </a:extLst>
          </p:cNvPr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740</Words>
  <Application>Microsoft Office PowerPoint</Application>
  <PresentationFormat>Widescreen</PresentationFormat>
  <Paragraphs>137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Bimesha</dc:creator>
  <cp:keywords/>
  <dc:description>generated using python-pptx</dc:description>
  <cp:lastModifiedBy>Bimesha Perera</cp:lastModifiedBy>
  <cp:revision>4</cp:revision>
  <dcterms:created xsi:type="dcterms:W3CDTF">2013-01-27T09:14:16Z</dcterms:created>
  <dcterms:modified xsi:type="dcterms:W3CDTF">2026-06-24T07:44:23Z</dcterms:modified>
  <cp:category/>
</cp:coreProperties>
</file>